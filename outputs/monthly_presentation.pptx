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3E80"/>
                </a:solidFill>
              </a:rPr>
              <a:t>ZYCUS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Project Portfolio
Health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F3E80"/>
                </a:solidFill>
              </a:rPr>
              <a:t>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E8F4FF"/>
                </a:solidFill>
              </a:rPr>
              <a:t>The portfolio is in a critical state with both monitored projects currently flagged Red and at High Risk, demanding immediate executive attention.
TREND_1: Both Outokumpu_S2P and UniSan_S2P are universally rated "High" risk, indicating systemic challenges in project execution and external dependencies across the portfolio.
TREND_2: UniSan_S2P is experiencing significant schedule slippage (14.8% behind) with over 50% of tasks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0" y="5303520"/>
            <a:ext cx="914400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53492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59436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84080" y="5303520"/>
            <a:ext cx="914400" cy="10972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0" y="53492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59436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AMBER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881360" y="5303520"/>
            <a:ext cx="914400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81360" y="53492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59436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5A5A6"/>
                </a:solidFill>
              </a:rPr>
              <a:t>Prepared by: AI Project Health Agent  |  Confidential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F3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5A5A6"/>
                </a:solidFill>
              </a:rPr>
              <a:t>Portfolio RAG Status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30352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164592" cy="2286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8988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Outokumpu S2P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389888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C0392B"/>
                </a:solidFill>
              </a:rPr>
              <a:t>[RED]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2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F"/>
                </a:solidFill>
              </a:rPr>
              <a:t>PM: N/A  |  Stage: Configuration and Build phase
Progress: 71%  |  Score: 1.35/2.0
The Outokumpu_S2P project is at a high risk level despite being ahead on percentage completion. Critical client sign-off...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280160"/>
            <a:ext cx="530352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52160" y="1280160"/>
            <a:ext cx="164592" cy="2286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38988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UniSan S2P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1389888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C0392B"/>
                </a:solidFill>
              </a:rPr>
              <a:t>[RED]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87452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F"/>
                </a:solidFill>
              </a:rPr>
              <a:t>PM: N/A  |  Stage: Training Phase I
Progress: 44%  |  Score: 0.50/2.0
The UniSan_S2P project is currently Red, experiencing significant schedule slippage with a 14.8% gap between actual and 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F3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Schedule &amp; Delivery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5A5A6"/>
                </a:solidFill>
              </a:rPr>
              <a:t>Patterns identified across all monitored projects this 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133856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164592" cy="914400"/>
          </a:xfrm>
          <a:prstGeom prst="rect">
            <a:avLst/>
          </a:prstGeom>
          <a:solidFill>
            <a:srgbClr val="0F3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89888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3E80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38988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Both Outokumpu_S2P and UniSan_S2P are universally rated "High" risk, indicating systemic challenges in project execution and external dependencies across the portfolio.
TREND_2: UniSan_S2P is experiencing significant schedule slippage (14.8% behind) with over 50% of tasks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31720"/>
            <a:ext cx="1133856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331720"/>
            <a:ext cx="164592" cy="914400"/>
          </a:xfrm>
          <a:prstGeom prst="rect">
            <a:avLst/>
          </a:prstGeom>
          <a:solidFill>
            <a:srgbClr val="0F3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41448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3E80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44144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UniSan_S2P is experiencing significant schedule slippage (14.8% behind) with over 50% of tasks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74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4FF"/>
                </a:solidFill>
              </a:rPr>
              <a:t>Project Score Comparison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86200"/>
            <a:ext cx="370332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8862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Outokumpu S2P  1.35/2.0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270248"/>
            <a:ext cx="137160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27024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UniSan S2P  0.50/2.0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F3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Emerging Risks &amp; Blockers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5A5A6"/>
                </a:solidFill>
              </a:rPr>
              <a:t>Systemic risks requiring immediate leadership attention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1338560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C12"/>
                </a:solidFill>
              </a:rPr>
              <a:t>Projects flagged At Risk = HIGH: Outokumpu_S2P, UniSan_S2P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Project Deep-Dives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5A5A6"/>
                </a:solidFill>
              </a:rPr>
              <a:t>Latest status snapshot per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669280" cy="2560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669280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Outokumpu S2P  [Red]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F"/>
                </a:solidFill>
              </a:rPr>
              <a:t>PM: N/A
Stage: Configuration and Build phase
Progress: 71% (expected ~57%)
Tasks: 255 done / 467 total
Top Risk: Critical...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280160"/>
            <a:ext cx="5669280" cy="2560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92240" y="1280160"/>
            <a:ext cx="5669280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3258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UniSan S2P  [Red]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737360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F"/>
                </a:solidFill>
              </a:rPr>
              <a:t>PM: N/A
Stage: Training Phase I
Progress: 44% (expected ~59%)
Tasks: 133 done / 343 total
Top Risk: Significant schedule delay: The project is 14.8% behind schedule,...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F3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Strategic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5A5A6"/>
                </a:solidFill>
              </a:rPr>
              <a:t>Actions recommended for leadership this 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Appendix: Weekly RAG 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5A5A6"/>
                </a:solidFill>
              </a:rPr>
              <a:t>Complete record of all weekly health assessments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365760"/>
          </a:xfrm>
          <a:prstGeom prst="rect">
            <a:avLst/>
          </a:prstGeom>
          <a:solidFill>
            <a:srgbClr val="0F3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20700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20700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20700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20700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% Done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120700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At Risk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645920"/>
            <a:ext cx="11430000" cy="33832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66420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</a:rPr>
              <a:t>2026-07-08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66420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</a:rPr>
              <a:t>Outokumpu S2P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66420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</a:rPr>
              <a:t>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166420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</a:rPr>
              <a:t>1.35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166420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</a:rPr>
              <a:t>71%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166420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</a:rPr>
              <a:t>High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011680"/>
            <a:ext cx="11430000" cy="3383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02996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</a:rPr>
              <a:t>2026-07-08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202996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</a:rPr>
              <a:t>UniSan S2P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202996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</a:rPr>
              <a:t>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02996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</a:rPr>
              <a:t>0.50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202996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</a:rPr>
              <a:t>44%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202996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</a:rPr>
              <a:t>High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377440"/>
            <a:ext cx="11430000" cy="33832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39572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</a:rPr>
              <a:t>2026-07-09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239572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</a:rPr>
              <a:t>Outokumpu S2P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239572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</a:rPr>
              <a:t>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239572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</a:rPr>
              <a:t>1.35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239572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</a:rPr>
              <a:t>71%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239572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</a:rPr>
              <a:t>High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743200"/>
            <a:ext cx="11430000" cy="3383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276148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</a:rPr>
              <a:t>2026-07-09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276148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</a:rPr>
              <a:t>UniSan S2P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276148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</a:rPr>
              <a:t>Red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276148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</a:rPr>
              <a:t>0.50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276148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</a:rPr>
              <a:t>44%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276148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</a:rPr>
              <a:t>High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108960"/>
            <a:ext cx="11430000" cy="33832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312724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</a:rPr>
              <a:t>2026-07-10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26080" y="312724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</a:rPr>
              <a:t>Outokumpu S2P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312724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</a:rPr>
              <a:t>Red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312724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</a:rPr>
              <a:t>1.35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312724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</a:rPr>
              <a:t>71%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41280" y="312724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</a:rPr>
              <a:t>High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474720"/>
            <a:ext cx="11430000" cy="3383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349300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</a:rPr>
              <a:t>2026-07-10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26080" y="349300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</a:rPr>
              <a:t>UniSan S2P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0" y="349300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</a:rPr>
              <a:t>Red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75120" y="349300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</a:rPr>
              <a:t>0.50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0" y="349300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</a:rPr>
              <a:t>44%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41280" y="349300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</a:rPr>
              <a:t>High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F3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